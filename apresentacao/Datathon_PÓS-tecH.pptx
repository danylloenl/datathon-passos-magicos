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65c1d9b5ac80ebcc_1_1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h65c1d9b5ac80ebcc_1_1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65c1d9b5ac80ebcc_1_1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h65c1d9b5ac80ebcc_1_13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atathon-risco-defasagem.streamlit.app/" TargetMode="External"/><Relationship Id="rId4" Type="http://schemas.openxmlformats.org/officeDocument/2006/relationships/hyperlink" Target="https://datathon-risco-defasagem.streamlit.app/" TargetMode="External"/><Relationship Id="rId5" Type="http://schemas.openxmlformats.org/officeDocument/2006/relationships/hyperlink" Target="http://github.com/DanylloENL/datathon-passos-magico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PASSOS MÁGICOS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Análise Multidimensional e Modelo Preditivo de Risco Educacional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914400" y="54864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rPr>
              <a:t>Datathon PosTech Fase 5 | Solução Baseada na PEDE 2022-2024</a:t>
            </a:r>
            <a:br>
              <a:rPr lang="en-US" sz="1600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rPr>
              <a:t>🔗 github.com/DanylloENL/datathon-passos-magicos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457200" y="365760"/>
            <a:ext cx="10972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Metodologia e Dados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rPr>
              <a:t>Estruturação da Base Histórica para a Solução</a:t>
            </a:r>
            <a:endParaRPr/>
          </a:p>
        </p:txBody>
      </p:sp>
      <p:grpSp>
        <p:nvGrpSpPr>
          <p:cNvPr id="91" name="Google Shape;91;p14"/>
          <p:cNvGrpSpPr/>
          <p:nvPr/>
        </p:nvGrpSpPr>
        <p:grpSpPr>
          <a:xfrm>
            <a:off x="457200" y="2119922"/>
            <a:ext cx="3552900" cy="3106483"/>
            <a:chOff x="0" y="0"/>
            <a:chExt cx="3552900" cy="4381500"/>
          </a:xfrm>
        </p:grpSpPr>
        <p:sp>
          <p:nvSpPr>
            <p:cNvPr id="92" name="Google Shape;92;p14"/>
            <p:cNvSpPr/>
            <p:nvPr/>
          </p:nvSpPr>
          <p:spPr>
            <a:xfrm>
              <a:off x="0" y="0"/>
              <a:ext cx="3552900" cy="4381500"/>
            </a:xfrm>
            <a:prstGeom prst="roundRect">
              <a:avLst>
                <a:gd fmla="val 4289" name="adj"/>
              </a:avLst>
            </a:prstGeom>
            <a:solidFill>
              <a:srgbClr val="15203B"/>
            </a:solidFill>
            <a:ln cap="flat" cmpd="sng" w="14300">
              <a:solidFill>
                <a:srgbClr val="00F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 txBox="1"/>
            <p:nvPr/>
          </p:nvSpPr>
          <p:spPr>
            <a:xfrm>
              <a:off x="228600" y="266700"/>
              <a:ext cx="3095700" cy="384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BBF24"/>
                  </a:solidFill>
                  <a:latin typeface="Calibri"/>
                  <a:ea typeface="Calibri"/>
                  <a:cs typeface="Calibri"/>
                  <a:sym typeface="Calibri"/>
                </a:rPr>
                <a:t>A BASE DE DADOS</a:t>
              </a:r>
              <a:endParaRPr b="1" sz="2200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F0FF"/>
                  </a:solidFill>
                  <a:latin typeface="Calibri"/>
                  <a:ea typeface="Calibri"/>
                  <a:cs typeface="Calibri"/>
                  <a:sym typeface="Calibri"/>
                </a:rPr>
                <a:t>Consolidação PEDE</a:t>
              </a:r>
              <a:endParaRPr b="1" sz="1400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Utilizamos os dados consolidados da PEDE de 2022, 2023 e 2024. Cruzamos 765 alunos (presentes em 23 e 24) através do Registro do Aluno (RA).</a:t>
              </a:r>
              <a:endParaRPr b="0" sz="13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4"/>
          <p:cNvGrpSpPr/>
          <p:nvPr/>
        </p:nvGrpSpPr>
        <p:grpSpPr>
          <a:xfrm>
            <a:off x="4314825" y="2119921"/>
            <a:ext cx="3552900" cy="3106483"/>
            <a:chOff x="0" y="0"/>
            <a:chExt cx="3552900" cy="4381500"/>
          </a:xfrm>
        </p:grpSpPr>
        <p:sp>
          <p:nvSpPr>
            <p:cNvPr id="95" name="Google Shape;95;p14"/>
            <p:cNvSpPr/>
            <p:nvPr/>
          </p:nvSpPr>
          <p:spPr>
            <a:xfrm>
              <a:off x="0" y="0"/>
              <a:ext cx="3552900" cy="4381500"/>
            </a:xfrm>
            <a:prstGeom prst="roundRect">
              <a:avLst>
                <a:gd fmla="val 4289" name="adj"/>
              </a:avLst>
            </a:prstGeom>
            <a:solidFill>
              <a:srgbClr val="15203B"/>
            </a:solidFill>
            <a:ln cap="flat" cmpd="sng" w="14300">
              <a:solidFill>
                <a:srgbClr val="00F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228600" y="266700"/>
              <a:ext cx="3095700" cy="384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BBF24"/>
                  </a:solidFill>
                  <a:latin typeface="Calibri"/>
                  <a:ea typeface="Calibri"/>
                  <a:cs typeface="Calibri"/>
                  <a:sym typeface="Calibri"/>
                </a:rPr>
                <a:t>VARIÁVEL ALVO</a:t>
              </a:r>
              <a:endParaRPr b="1" sz="2200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F0FF"/>
                  </a:solidFill>
                  <a:latin typeface="Calibri"/>
                  <a:ea typeface="Calibri"/>
                  <a:cs typeface="Calibri"/>
                  <a:sym typeface="Calibri"/>
                </a:rPr>
                <a:t>Mapeamento de Risco (Target)</a:t>
              </a:r>
              <a:endParaRPr b="1" sz="1400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Definimos que um aluno está 'em risco' (para o Machine Learning) quando a Defasagem no ano seguinte é menor que zero (aprox. 40% dos alunos mapeados).</a:t>
              </a:r>
              <a:endParaRPr b="0" sz="13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4"/>
          <p:cNvGrpSpPr/>
          <p:nvPr/>
        </p:nvGrpSpPr>
        <p:grpSpPr>
          <a:xfrm>
            <a:off x="8172450" y="2119922"/>
            <a:ext cx="3552900" cy="3106484"/>
            <a:chOff x="0" y="0"/>
            <a:chExt cx="3552900" cy="4381500"/>
          </a:xfrm>
        </p:grpSpPr>
        <p:sp>
          <p:nvSpPr>
            <p:cNvPr id="98" name="Google Shape;98;p14"/>
            <p:cNvSpPr/>
            <p:nvPr/>
          </p:nvSpPr>
          <p:spPr>
            <a:xfrm>
              <a:off x="0" y="0"/>
              <a:ext cx="3552900" cy="4381500"/>
            </a:xfrm>
            <a:prstGeom prst="roundRect">
              <a:avLst>
                <a:gd fmla="val 4289" name="adj"/>
              </a:avLst>
            </a:prstGeom>
            <a:solidFill>
              <a:srgbClr val="15203B"/>
            </a:solidFill>
            <a:ln cap="flat" cmpd="sng" w="14300">
              <a:solidFill>
                <a:srgbClr val="00F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228600" y="266700"/>
              <a:ext cx="3095700" cy="384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BBF24"/>
                  </a:solidFill>
                  <a:latin typeface="Calibri"/>
                  <a:ea typeface="Calibri"/>
                  <a:cs typeface="Calibri"/>
                  <a:sym typeface="Calibri"/>
                </a:rPr>
                <a:t>OBJETIVOS</a:t>
              </a:r>
              <a:endParaRPr b="1" sz="2200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F0FF"/>
                  </a:solidFill>
                  <a:latin typeface="Calibri"/>
                  <a:ea typeface="Calibri"/>
                  <a:cs typeface="Calibri"/>
                  <a:sym typeface="Calibri"/>
                </a:rPr>
                <a:t>Foco e Entregas</a:t>
              </a:r>
              <a:endParaRPr b="1" sz="1400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4325" lvl="0" marL="457200" rtl="0" algn="l">
                <a:spcBef>
                  <a:spcPts val="1600"/>
                </a:spcBef>
                <a:spcAft>
                  <a:spcPts val="0"/>
                </a:spcAft>
                <a:buClr>
                  <a:srgbClr val="CBD5E1"/>
                </a:buClr>
                <a:buSzPts val="1350"/>
                <a:buFont typeface="Calibri"/>
                <a:buAutoNum type="arabicPeriod"/>
              </a:pPr>
              <a:r>
                <a:rPr b="0" lang="en-US" sz="135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Responder assertivamente às dores de negócio (Q1 a Q11).</a:t>
              </a:r>
              <a:endParaRPr b="0" sz="13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432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CBD5E1"/>
                </a:buClr>
                <a:buSzPts val="1350"/>
                <a:buFont typeface="Calibri"/>
                <a:buAutoNum type="arabicPeriod"/>
              </a:pPr>
              <a:r>
                <a:rPr b="0" lang="en-US" sz="135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Criar uma aplicação de IA capaz de prever o risco antecipadamente, permitindo que a ONG atue de forma proativa.</a:t>
              </a:r>
              <a:endParaRPr b="0" sz="13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/>
        </p:nvSpPr>
        <p:spPr>
          <a:xfrm>
            <a:off x="457200" y="72683"/>
            <a:ext cx="10972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Q1 e Q2: IAN &amp; IDA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rPr>
              <a:t>Adequação de Nível e Desempenho Acadêmico</a:t>
            </a:r>
            <a:endParaRPr/>
          </a:p>
        </p:txBody>
      </p:sp>
      <p:grpSp>
        <p:nvGrpSpPr>
          <p:cNvPr id="105" name="Google Shape;105;p15"/>
          <p:cNvGrpSpPr/>
          <p:nvPr/>
        </p:nvGrpSpPr>
        <p:grpSpPr>
          <a:xfrm>
            <a:off x="457200" y="1619250"/>
            <a:ext cx="5334000" cy="2190878"/>
            <a:chOff x="0" y="0"/>
            <a:chExt cx="5334000" cy="4667400"/>
          </a:xfrm>
        </p:grpSpPr>
        <p:sp>
          <p:nvSpPr>
            <p:cNvPr id="106" name="Google Shape;106;p15"/>
            <p:cNvSpPr/>
            <p:nvPr/>
          </p:nvSpPr>
          <p:spPr>
            <a:xfrm>
              <a:off x="0" y="0"/>
              <a:ext cx="5334000" cy="4667400"/>
            </a:xfrm>
            <a:prstGeom prst="roundRect">
              <a:avLst>
                <a:gd fmla="val 3265" name="adj"/>
              </a:avLst>
            </a:prstGeom>
            <a:solidFill>
              <a:srgbClr val="15203B"/>
            </a:solidFill>
            <a:ln cap="flat" cmpd="sng" w="14300">
              <a:solidFill>
                <a:srgbClr val="00F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5"/>
            <p:cNvSpPr txBox="1"/>
            <p:nvPr/>
          </p:nvSpPr>
          <p:spPr>
            <a:xfrm>
              <a:off x="304800" y="500837"/>
              <a:ext cx="4724400" cy="41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BBF24"/>
                  </a:solidFill>
                  <a:latin typeface="Calibri"/>
                  <a:ea typeface="Calibri"/>
                  <a:cs typeface="Calibri"/>
                  <a:sym typeface="Calibri"/>
                </a:rPr>
                <a:t>Q1 • IAN</a:t>
              </a:r>
              <a:endParaRPr b="1" sz="2400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F0FF"/>
                  </a:solidFill>
                  <a:latin typeface="Calibri"/>
                  <a:ea typeface="Calibri"/>
                  <a:cs typeface="Calibri"/>
                  <a:sym typeface="Calibri"/>
                </a:rPr>
                <a:t>Defasagem Acadêmica</a:t>
              </a:r>
              <a:endParaRPr b="1" sz="1600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Houve uma redução contínua e drástica no número de alunos com defasagem severa. A migração constante para o status 'Adequado' comprova o resgate educacional da ONG.</a:t>
              </a:r>
              <a:endParaRPr b="0" sz="15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5"/>
          <p:cNvGrpSpPr/>
          <p:nvPr/>
        </p:nvGrpSpPr>
        <p:grpSpPr>
          <a:xfrm>
            <a:off x="457200" y="4152250"/>
            <a:ext cx="5333741" cy="2014281"/>
            <a:chOff x="0" y="0"/>
            <a:chExt cx="5638800" cy="1990200"/>
          </a:xfrm>
        </p:grpSpPr>
        <p:sp>
          <p:nvSpPr>
            <p:cNvPr id="109" name="Google Shape;109;p15"/>
            <p:cNvSpPr/>
            <p:nvPr/>
          </p:nvSpPr>
          <p:spPr>
            <a:xfrm>
              <a:off x="0" y="0"/>
              <a:ext cx="5638800" cy="1990200"/>
            </a:xfrm>
            <a:prstGeom prst="roundRect">
              <a:avLst>
                <a:gd fmla="val 3265" name="adj"/>
              </a:avLst>
            </a:prstGeom>
            <a:solidFill>
              <a:srgbClr val="15203B"/>
            </a:solidFill>
            <a:ln cap="flat" cmpd="sng" w="14475">
              <a:solidFill>
                <a:srgbClr val="00F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17"/>
            </a:p>
          </p:txBody>
        </p:sp>
        <p:sp>
          <p:nvSpPr>
            <p:cNvPr id="110" name="Google Shape;110;p15"/>
            <p:cNvSpPr txBox="1"/>
            <p:nvPr/>
          </p:nvSpPr>
          <p:spPr>
            <a:xfrm>
              <a:off x="304800" y="216534"/>
              <a:ext cx="50292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65">
                  <a:solidFill>
                    <a:srgbClr val="FBBF24"/>
                  </a:solidFill>
                  <a:latin typeface="Calibri"/>
                  <a:ea typeface="Calibri"/>
                  <a:cs typeface="Calibri"/>
                  <a:sym typeface="Calibri"/>
                </a:rPr>
                <a:t>Q2 • IDA</a:t>
              </a:r>
              <a:endParaRPr b="1" sz="2265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05"/>
                </a:spcBef>
                <a:spcAft>
                  <a:spcPts val="0"/>
                </a:spcAft>
                <a:buNone/>
              </a:pPr>
              <a:r>
                <a:rPr b="1" lang="en-US" sz="1577">
                  <a:solidFill>
                    <a:srgbClr val="00F0FF"/>
                  </a:solidFill>
                  <a:latin typeface="Calibri"/>
                  <a:ea typeface="Calibri"/>
                  <a:cs typeface="Calibri"/>
                  <a:sym typeface="Calibri"/>
                </a:rPr>
                <a:t>Desempenho Acadêmico</a:t>
              </a:r>
              <a:endParaRPr b="1" sz="1577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810"/>
                </a:spcBef>
                <a:spcAft>
                  <a:spcPts val="0"/>
                </a:spcAft>
                <a:buNone/>
              </a:pPr>
              <a:r>
                <a:rPr b="0" lang="en-US" sz="1361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As notas apresentam crescimento consistente (gráfico). Os pequenos platôs identificados coincidem com a transição de fases (ex: Ágata para Ametista), onde o nível de exigência pedagógica aumenta exponencialmente.</a:t>
              </a:r>
              <a:endParaRPr b="0" sz="1361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2076442"/>
            <a:ext cx="5029200" cy="32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/>
        </p:nvSpPr>
        <p:spPr>
          <a:xfrm>
            <a:off x="457200" y="170375"/>
            <a:ext cx="10972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Q3 e Q4: IEG &amp; IAA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rPr>
              <a:t>O Peso do Engajamento e a Síndrome do Impostor</a:t>
            </a:r>
            <a:endParaRPr/>
          </a:p>
        </p:txBody>
      </p:sp>
      <p:grpSp>
        <p:nvGrpSpPr>
          <p:cNvPr id="117" name="Google Shape;117;p16"/>
          <p:cNvGrpSpPr/>
          <p:nvPr/>
        </p:nvGrpSpPr>
        <p:grpSpPr>
          <a:xfrm>
            <a:off x="457200" y="2046650"/>
            <a:ext cx="5486400" cy="2728112"/>
            <a:chOff x="0" y="0"/>
            <a:chExt cx="5486400" cy="4572000"/>
          </a:xfrm>
        </p:grpSpPr>
        <p:sp>
          <p:nvSpPr>
            <p:cNvPr id="118" name="Google Shape;118;p16"/>
            <p:cNvSpPr/>
            <p:nvPr/>
          </p:nvSpPr>
          <p:spPr>
            <a:xfrm>
              <a:off x="0" y="0"/>
              <a:ext cx="5486400" cy="4572000"/>
            </a:xfrm>
            <a:prstGeom prst="roundRect">
              <a:avLst>
                <a:gd fmla="val 3333" name="adj"/>
              </a:avLst>
            </a:prstGeom>
            <a:solidFill>
              <a:srgbClr val="15203B"/>
            </a:solidFill>
            <a:ln cap="flat" cmpd="sng" w="14300">
              <a:solidFill>
                <a:srgbClr val="00F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304800" y="304800"/>
              <a:ext cx="4876800" cy="39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BBF24"/>
                  </a:solidFill>
                  <a:latin typeface="Calibri"/>
                  <a:ea typeface="Calibri"/>
                  <a:cs typeface="Calibri"/>
                  <a:sym typeface="Calibri"/>
                </a:rPr>
                <a:t>Q3 • IEG</a:t>
              </a:r>
              <a:endParaRPr b="1" sz="2400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F0FF"/>
                  </a:solidFill>
                  <a:latin typeface="Calibri"/>
                  <a:ea typeface="Calibri"/>
                  <a:cs typeface="Calibri"/>
                  <a:sym typeface="Calibri"/>
                </a:rPr>
                <a:t>Engajamento</a:t>
              </a:r>
              <a:endParaRPr b="1" sz="1600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O grau de engajamento é o maior impulsionador do Ponto de Virada. Alunos altamente participativos conseguem sobrepor deficiências acadêmicas iniciais de forma muito mais rápida.</a:t>
              </a:r>
              <a:endParaRPr b="0" sz="15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" name="Google Shape;120;p16"/>
          <p:cNvGrpSpPr/>
          <p:nvPr/>
        </p:nvGrpSpPr>
        <p:grpSpPr>
          <a:xfrm>
            <a:off x="6248400" y="2034446"/>
            <a:ext cx="5486400" cy="2728112"/>
            <a:chOff x="0" y="0"/>
            <a:chExt cx="5486400" cy="4572000"/>
          </a:xfrm>
        </p:grpSpPr>
        <p:sp>
          <p:nvSpPr>
            <p:cNvPr id="121" name="Google Shape;121;p16"/>
            <p:cNvSpPr/>
            <p:nvPr/>
          </p:nvSpPr>
          <p:spPr>
            <a:xfrm>
              <a:off x="0" y="0"/>
              <a:ext cx="5486400" cy="4572000"/>
            </a:xfrm>
            <a:prstGeom prst="roundRect">
              <a:avLst>
                <a:gd fmla="val 3333" name="adj"/>
              </a:avLst>
            </a:prstGeom>
            <a:solidFill>
              <a:srgbClr val="15203B"/>
            </a:solidFill>
            <a:ln cap="flat" cmpd="sng" w="14300">
              <a:solidFill>
                <a:srgbClr val="00F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304800" y="304800"/>
              <a:ext cx="4876800" cy="39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BBF24"/>
                  </a:solidFill>
                  <a:latin typeface="Calibri"/>
                  <a:ea typeface="Calibri"/>
                  <a:cs typeface="Calibri"/>
                  <a:sym typeface="Calibri"/>
                </a:rPr>
                <a:t>Q4 • IAA</a:t>
              </a:r>
              <a:endParaRPr b="1" sz="2400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F0FF"/>
                  </a:solidFill>
                  <a:latin typeface="Calibri"/>
                  <a:ea typeface="Calibri"/>
                  <a:cs typeface="Calibri"/>
                  <a:sym typeface="Calibri"/>
                </a:rPr>
                <a:t>Autoavaliação &amp; Síndrome do Impostor</a:t>
              </a:r>
              <a:endParaRPr b="1" sz="1600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Foi identificado um padrão de 'Síndrome do Impostor'. Muitos alunos possuem um desempenho real (IDA) excelente, mas uma autoavaliação (IAA) muito baixa. Isso evidencia a urgência contínua do apoio psicológico para calibrar a régua de autoconfiança desses jovens.</a:t>
              </a:r>
              <a:endParaRPr b="0" sz="15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/>
          <p:nvPr/>
        </p:nvSpPr>
        <p:spPr>
          <a:xfrm>
            <a:off x="457200" y="305917"/>
            <a:ext cx="10972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Q5, Q6 e Q7: IPS, IPP &amp; IPV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rPr>
              <a:t>Sinais de Alerta e o Grande Despertar</a:t>
            </a:r>
            <a:endParaRPr/>
          </a:p>
        </p:txBody>
      </p:sp>
      <p:grpSp>
        <p:nvGrpSpPr>
          <p:cNvPr id="128" name="Google Shape;128;p17"/>
          <p:cNvGrpSpPr/>
          <p:nvPr/>
        </p:nvGrpSpPr>
        <p:grpSpPr>
          <a:xfrm>
            <a:off x="457200" y="1884979"/>
            <a:ext cx="11268150" cy="4451021"/>
            <a:chOff x="457200" y="1607029"/>
            <a:chExt cx="11268150" cy="4451021"/>
          </a:xfrm>
        </p:grpSpPr>
        <p:grpSp>
          <p:nvGrpSpPr>
            <p:cNvPr id="129" name="Google Shape;129;p17"/>
            <p:cNvGrpSpPr/>
            <p:nvPr/>
          </p:nvGrpSpPr>
          <p:grpSpPr>
            <a:xfrm>
              <a:off x="457200" y="1607029"/>
              <a:ext cx="3552900" cy="4451021"/>
              <a:chOff x="0" y="-12221"/>
              <a:chExt cx="3552900" cy="4451021"/>
            </a:xfrm>
          </p:grpSpPr>
          <p:sp>
            <p:nvSpPr>
              <p:cNvPr id="130" name="Google Shape;130;p17"/>
              <p:cNvSpPr/>
              <p:nvPr/>
            </p:nvSpPr>
            <p:spPr>
              <a:xfrm>
                <a:off x="0" y="-12221"/>
                <a:ext cx="3552900" cy="3768900"/>
              </a:xfrm>
              <a:prstGeom prst="roundRect">
                <a:avLst>
                  <a:gd fmla="val 4289" name="adj"/>
                </a:avLst>
              </a:prstGeom>
              <a:solidFill>
                <a:srgbClr val="15203B"/>
              </a:solidFill>
              <a:ln cap="flat" cmpd="sng" w="14300">
                <a:solidFill>
                  <a:srgbClr val="00F0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7"/>
              <p:cNvSpPr txBox="1"/>
              <p:nvPr/>
            </p:nvSpPr>
            <p:spPr>
              <a:xfrm>
                <a:off x="228600" y="228600"/>
                <a:ext cx="3095700" cy="421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200">
                    <a:solidFill>
                      <a:srgbClr val="FBBF24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Q5 • IPS</a:t>
                </a:r>
                <a:endParaRPr i="0"/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i="0" lang="en-US" sz="1400">
                    <a:solidFill>
                      <a:srgbClr val="00F0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Fator Psicossocial</a:t>
                </a:r>
                <a:endParaRPr i="0"/>
              </a:p>
              <a:p>
                <a:pPr indent="0" lvl="0" marL="0" rtl="0" algn="l">
                  <a:spcBef>
                    <a:spcPts val="1350"/>
                  </a:spcBef>
                  <a:spcAft>
                    <a:spcPts val="0"/>
                  </a:spcAft>
                  <a:buNone/>
                </a:pPr>
                <a:r>
                  <a:rPr b="0" i="0" lang="en-US" sz="1350">
                    <a:solidFill>
                      <a:srgbClr val="CBD5E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 IPS é o indicador antecedente perfeito. Padrões psicossociais negativos e instabilidade emocional sinalizam quedas futuras nas notas meses antes delas ocorrerem.</a:t>
                </a:r>
                <a:endParaRPr i="0"/>
              </a:p>
            </p:txBody>
          </p:sp>
        </p:grpSp>
        <p:grpSp>
          <p:nvGrpSpPr>
            <p:cNvPr id="132" name="Google Shape;132;p17"/>
            <p:cNvGrpSpPr/>
            <p:nvPr/>
          </p:nvGrpSpPr>
          <p:grpSpPr>
            <a:xfrm>
              <a:off x="4314825" y="1619252"/>
              <a:ext cx="3552900" cy="4438798"/>
              <a:chOff x="0" y="2"/>
              <a:chExt cx="3552900" cy="4438798"/>
            </a:xfrm>
          </p:grpSpPr>
          <p:sp>
            <p:nvSpPr>
              <p:cNvPr id="133" name="Google Shape;133;p17"/>
              <p:cNvSpPr/>
              <p:nvPr/>
            </p:nvSpPr>
            <p:spPr>
              <a:xfrm>
                <a:off x="0" y="2"/>
                <a:ext cx="3552900" cy="3768900"/>
              </a:xfrm>
              <a:prstGeom prst="roundRect">
                <a:avLst>
                  <a:gd fmla="val 4289" name="adj"/>
                </a:avLst>
              </a:prstGeom>
              <a:solidFill>
                <a:srgbClr val="15203B"/>
              </a:solidFill>
              <a:ln cap="flat" cmpd="sng" w="14300">
                <a:solidFill>
                  <a:srgbClr val="00F0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7"/>
              <p:cNvSpPr txBox="1"/>
              <p:nvPr/>
            </p:nvSpPr>
            <p:spPr>
              <a:xfrm>
                <a:off x="228600" y="228600"/>
                <a:ext cx="3095700" cy="421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200">
                    <a:solidFill>
                      <a:srgbClr val="FBBF24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Q6 • IPP</a:t>
                </a:r>
                <a:endParaRPr i="0"/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i="0" lang="en-US" sz="1400">
                    <a:solidFill>
                      <a:srgbClr val="00F0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Fator Psicopedagógico</a:t>
                </a:r>
                <a:endParaRPr i="0"/>
              </a:p>
              <a:p>
                <a:pPr indent="0" lvl="0" marL="0" rtl="0" algn="l">
                  <a:spcBef>
                    <a:spcPts val="1350"/>
                  </a:spcBef>
                  <a:spcAft>
                    <a:spcPts val="0"/>
                  </a:spcAft>
                  <a:buNone/>
                </a:pPr>
                <a:r>
                  <a:rPr b="0" i="0" lang="en-US" sz="1350">
                    <a:solidFill>
                      <a:srgbClr val="CBD5E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 IPP prova que o IAN (defasagem) não reflete falta de inteligência. A avaliação psicopedagógica frequentemente revela que jovens com defasagem severa possuem um potencial cognitivo gigantesco, apenas reprimido pelo seu contexto social.</a:t>
                </a:r>
                <a:endParaRPr i="0"/>
              </a:p>
            </p:txBody>
          </p:sp>
        </p:grpSp>
        <p:grpSp>
          <p:nvGrpSpPr>
            <p:cNvPr id="135" name="Google Shape;135;p17"/>
            <p:cNvGrpSpPr/>
            <p:nvPr/>
          </p:nvGrpSpPr>
          <p:grpSpPr>
            <a:xfrm>
              <a:off x="8172450" y="1619252"/>
              <a:ext cx="3552900" cy="4438798"/>
              <a:chOff x="0" y="2"/>
              <a:chExt cx="3552900" cy="4438798"/>
            </a:xfrm>
          </p:grpSpPr>
          <p:sp>
            <p:nvSpPr>
              <p:cNvPr id="136" name="Google Shape;136;p17"/>
              <p:cNvSpPr/>
              <p:nvPr/>
            </p:nvSpPr>
            <p:spPr>
              <a:xfrm>
                <a:off x="0" y="2"/>
                <a:ext cx="3552900" cy="3768900"/>
              </a:xfrm>
              <a:prstGeom prst="roundRect">
                <a:avLst>
                  <a:gd fmla="val 4289" name="adj"/>
                </a:avLst>
              </a:prstGeom>
              <a:solidFill>
                <a:srgbClr val="15203B"/>
              </a:solidFill>
              <a:ln cap="flat" cmpd="sng" w="14300">
                <a:solidFill>
                  <a:srgbClr val="00F0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17"/>
              <p:cNvSpPr txBox="1"/>
              <p:nvPr/>
            </p:nvSpPr>
            <p:spPr>
              <a:xfrm>
                <a:off x="228600" y="228600"/>
                <a:ext cx="3095700" cy="421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2200">
                    <a:solidFill>
                      <a:srgbClr val="FBBF24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Q7 • IPV</a:t>
                </a:r>
                <a:endParaRPr i="0"/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i="0" lang="en-US" sz="1400">
                    <a:solidFill>
                      <a:srgbClr val="00F0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Ponto de Virada</a:t>
                </a:r>
                <a:endParaRPr i="0"/>
              </a:p>
              <a:p>
                <a:pPr indent="0" lvl="0" marL="0" rtl="0" algn="l">
                  <a:spcBef>
                    <a:spcPts val="1350"/>
                  </a:spcBef>
                  <a:spcAft>
                    <a:spcPts val="0"/>
                  </a:spcAft>
                  <a:buNone/>
                </a:pPr>
                <a:r>
                  <a:rPr b="0" i="0" lang="en-US" sz="1350">
                    <a:solidFill>
                      <a:srgbClr val="CBD5E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 clímax educacional não vem só das notas. É a fusão de engajamento assíduo e estabilidade emocional que detona a virada de chave no aluno.</a:t>
                </a:r>
                <a:endParaRPr i="0"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/>
        </p:nvSpPr>
        <p:spPr>
          <a:xfrm>
            <a:off x="476250" y="381000"/>
            <a:ext cx="11239500" cy="75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60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Q8 e Q10: INDE &amp; Efetividade</a:t>
            </a:r>
            <a:endParaRPr b="1" sz="2960">
              <a:solidFill>
                <a:srgbClr val="FBBF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665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rPr>
              <a:t>A Multidimensionalidade do Aluno e o Impacto Real</a:t>
            </a:r>
            <a:endParaRPr b="0" sz="1665">
              <a:solidFill>
                <a:srgbClr val="00F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" name="Google Shape;143;p18"/>
          <p:cNvGrpSpPr/>
          <p:nvPr/>
        </p:nvGrpSpPr>
        <p:grpSpPr>
          <a:xfrm>
            <a:off x="476250" y="1428750"/>
            <a:ext cx="6477000" cy="2286000"/>
            <a:chOff x="0" y="0"/>
            <a:chExt cx="6477000" cy="2286000"/>
          </a:xfrm>
        </p:grpSpPr>
        <p:sp>
          <p:nvSpPr>
            <p:cNvPr id="144" name="Google Shape;144;p18"/>
            <p:cNvSpPr/>
            <p:nvPr/>
          </p:nvSpPr>
          <p:spPr>
            <a:xfrm>
              <a:off x="0" y="0"/>
              <a:ext cx="6477000" cy="2286000"/>
            </a:xfrm>
            <a:prstGeom prst="roundRect">
              <a:avLst>
                <a:gd fmla="val 6666" name="adj"/>
              </a:avLst>
            </a:prstGeom>
            <a:solidFill>
              <a:srgbClr val="15203B"/>
            </a:solidFill>
            <a:ln cap="flat" cmpd="sng" w="14300">
              <a:solidFill>
                <a:srgbClr val="00F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8"/>
            <p:cNvSpPr txBox="1"/>
            <p:nvPr/>
          </p:nvSpPr>
          <p:spPr>
            <a:xfrm>
              <a:off x="228600" y="190500"/>
              <a:ext cx="6019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BBF24"/>
                  </a:solidFill>
                  <a:latin typeface="Calibri"/>
                  <a:ea typeface="Calibri"/>
                  <a:cs typeface="Calibri"/>
                  <a:sym typeface="Calibri"/>
                </a:rPr>
                <a:t>Q8 • O INDE (Índice de Desenvolvimento)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F0FF"/>
                  </a:solidFill>
                  <a:latin typeface="Calibri"/>
                  <a:ea typeface="Calibri"/>
                  <a:cs typeface="Calibri"/>
                  <a:sym typeface="Calibri"/>
                </a:rPr>
                <a:t>Harmonia Global: IDA + IEG + IPS + IPP</a:t>
              </a:r>
              <a:endParaRPr b="1" sz="1400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Como visto no radar ao lado, o aluno exemplar não é apenas o que tira nota máxima em tudo, mas aquele que equilibra cognição com saúde emocional, presença e autoavaliação.</a:t>
              </a:r>
              <a:endParaRPr b="0" sz="15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p18"/>
          <p:cNvGrpSpPr/>
          <p:nvPr/>
        </p:nvGrpSpPr>
        <p:grpSpPr>
          <a:xfrm>
            <a:off x="476250" y="3952875"/>
            <a:ext cx="6477000" cy="2333700"/>
            <a:chOff x="0" y="0"/>
            <a:chExt cx="6477000" cy="2333700"/>
          </a:xfrm>
        </p:grpSpPr>
        <p:sp>
          <p:nvSpPr>
            <p:cNvPr id="147" name="Google Shape;147;p18"/>
            <p:cNvSpPr/>
            <p:nvPr/>
          </p:nvSpPr>
          <p:spPr>
            <a:xfrm>
              <a:off x="0" y="0"/>
              <a:ext cx="6477000" cy="2333700"/>
            </a:xfrm>
            <a:prstGeom prst="roundRect">
              <a:avLst>
                <a:gd fmla="val 6530" name="adj"/>
              </a:avLst>
            </a:prstGeom>
            <a:solidFill>
              <a:srgbClr val="15203B"/>
            </a:solidFill>
            <a:ln cap="flat" cmpd="sng" w="1430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8"/>
            <p:cNvSpPr txBox="1"/>
            <p:nvPr/>
          </p:nvSpPr>
          <p:spPr>
            <a:xfrm>
              <a:off x="228600" y="190500"/>
              <a:ext cx="6019800" cy="19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BBF24"/>
                  </a:solidFill>
                  <a:latin typeface="Calibri"/>
                  <a:ea typeface="Calibri"/>
                  <a:cs typeface="Calibri"/>
                  <a:sym typeface="Calibri"/>
                </a:rPr>
                <a:t>Q10 • Efetividade do Programa</a:t>
              </a:r>
              <a:endParaRPr b="1" sz="2000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BBF24"/>
                  </a:solidFill>
                  <a:latin typeface="Calibri"/>
                  <a:ea typeface="Calibri"/>
                  <a:cs typeface="Calibri"/>
                  <a:sym typeface="Calibri"/>
                </a:rPr>
                <a:t>Jornada por Fases:</a:t>
              </a:r>
              <a:r>
                <a:rPr lang="en-US"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Quartzo ➔ Ágata ➔ Ametista ➔ Topázio</a:t>
              </a:r>
              <a:endParaRPr>
                <a:highlight>
                  <a:srgbClr val="FBBF24"/>
                </a:highlight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A análise evolutiva certifica matematicamente o sucesso da Passos Mágicos. Alunos que entram vulneráveis saem como verdadeiros protagonistas, donos de suas próprias histórias.</a:t>
              </a:r>
              <a:endParaRPr b="0" sz="15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premium_radar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9500" y="1630221"/>
            <a:ext cx="4095900" cy="409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/>
        </p:nvSpPr>
        <p:spPr>
          <a:xfrm>
            <a:off x="457200" y="268068"/>
            <a:ext cx="10972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Q9: Previsão de Risco com 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rPr>
              <a:t>Machine Learning Aplicado à Educação</a:t>
            </a:r>
            <a:endParaRPr/>
          </a:p>
        </p:txBody>
      </p:sp>
      <p:grpSp>
        <p:nvGrpSpPr>
          <p:cNvPr id="155" name="Google Shape;155;p19"/>
          <p:cNvGrpSpPr/>
          <p:nvPr/>
        </p:nvGrpSpPr>
        <p:grpSpPr>
          <a:xfrm>
            <a:off x="457200" y="2112596"/>
            <a:ext cx="6477000" cy="1476300"/>
            <a:chOff x="0" y="0"/>
            <a:chExt cx="6477000" cy="1476300"/>
          </a:xfrm>
        </p:grpSpPr>
        <p:sp>
          <p:nvSpPr>
            <p:cNvPr id="156" name="Google Shape;156;p19"/>
            <p:cNvSpPr/>
            <p:nvPr/>
          </p:nvSpPr>
          <p:spPr>
            <a:xfrm>
              <a:off x="0" y="0"/>
              <a:ext cx="6477000" cy="1476300"/>
            </a:xfrm>
            <a:prstGeom prst="roundRect">
              <a:avLst>
                <a:gd fmla="val 7741" name="adj"/>
              </a:avLst>
            </a:prstGeom>
            <a:solidFill>
              <a:srgbClr val="15203B"/>
            </a:solidFill>
            <a:ln cap="flat" cmpd="sng" w="14300">
              <a:solidFill>
                <a:srgbClr val="00F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9"/>
            <p:cNvSpPr txBox="1"/>
            <p:nvPr/>
          </p:nvSpPr>
          <p:spPr>
            <a:xfrm>
              <a:off x="228600" y="171450"/>
              <a:ext cx="6019800" cy="11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BBF24"/>
                  </a:solidFill>
                  <a:latin typeface="Calibri"/>
                  <a:ea typeface="Calibri"/>
                  <a:cs typeface="Calibri"/>
                  <a:sym typeface="Calibri"/>
                </a:rPr>
                <a:t>O Modelo Desenvolvido</a:t>
              </a:r>
              <a:endParaRPr b="1" sz="1800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Treinamos e comparamos 3 modelos, com o Random Forest vencendo com </a:t>
              </a:r>
              <a:r>
                <a:rPr b="1" lang="en-US" sz="1500">
                  <a:solidFill>
                    <a:srgbClr val="00F0FF"/>
                  </a:solidFill>
                  <a:latin typeface="Calibri"/>
                  <a:ea typeface="Calibri"/>
                  <a:cs typeface="Calibri"/>
                  <a:sym typeface="Calibri"/>
                </a:rPr>
                <a:t>91.8% de ROC-AUC</a:t>
              </a:r>
              <a:r>
                <a:rPr b="0" lang="en-US" sz="15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 e </a:t>
              </a:r>
              <a:r>
                <a:rPr b="1" lang="en-US" sz="1500">
                  <a:solidFill>
                    <a:srgbClr val="00F0FF"/>
                  </a:solidFill>
                  <a:latin typeface="Calibri"/>
                  <a:ea typeface="Calibri"/>
                  <a:cs typeface="Calibri"/>
                  <a:sym typeface="Calibri"/>
                </a:rPr>
                <a:t>precisão de 85%</a:t>
              </a:r>
              <a:r>
                <a:rPr b="0" lang="en-US" sz="15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sz="15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19"/>
          <p:cNvGrpSpPr/>
          <p:nvPr/>
        </p:nvGrpSpPr>
        <p:grpSpPr>
          <a:xfrm>
            <a:off x="457200" y="3731846"/>
            <a:ext cx="6477000" cy="1619100"/>
            <a:chOff x="0" y="0"/>
            <a:chExt cx="6477000" cy="1619100"/>
          </a:xfrm>
        </p:grpSpPr>
        <p:sp>
          <p:nvSpPr>
            <p:cNvPr id="159" name="Google Shape;159;p19"/>
            <p:cNvSpPr/>
            <p:nvPr/>
          </p:nvSpPr>
          <p:spPr>
            <a:xfrm>
              <a:off x="0" y="0"/>
              <a:ext cx="6477000" cy="1619100"/>
            </a:xfrm>
            <a:prstGeom prst="roundRect">
              <a:avLst>
                <a:gd fmla="val 7058" name="adj"/>
              </a:avLst>
            </a:prstGeom>
            <a:solidFill>
              <a:srgbClr val="15203B"/>
            </a:solidFill>
            <a:ln cap="flat" cmpd="sng" w="14300">
              <a:solidFill>
                <a:srgbClr val="00F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9"/>
            <p:cNvSpPr txBox="1"/>
            <p:nvPr/>
          </p:nvSpPr>
          <p:spPr>
            <a:xfrm>
              <a:off x="228600" y="171450"/>
              <a:ext cx="6019800" cy="12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BBF24"/>
                  </a:solidFill>
                  <a:latin typeface="Calibri"/>
                  <a:ea typeface="Calibri"/>
                  <a:cs typeface="Calibri"/>
                  <a:sym typeface="Calibri"/>
                </a:rPr>
                <a:t>A Pergunta Respondida</a:t>
              </a:r>
              <a:endParaRPr b="1" sz="1800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A partir dos indicadores de 2023, o aluno ficará defasado em 2024? Nosso modelo provou que as variáveis </a:t>
              </a:r>
              <a:r>
                <a:rPr b="1" lang="en-US" sz="1500">
                  <a:solidFill>
                    <a:srgbClr val="00F0FF"/>
                  </a:solidFill>
                  <a:latin typeface="Calibri"/>
                  <a:ea typeface="Calibri"/>
                  <a:cs typeface="Calibri"/>
                  <a:sym typeface="Calibri"/>
                </a:rPr>
                <a:t>IPP (24%)</a:t>
              </a:r>
              <a:r>
                <a:rPr b="0" lang="en-US" sz="15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 e </a:t>
              </a:r>
              <a:r>
                <a:rPr b="1" lang="en-US" sz="1500">
                  <a:solidFill>
                    <a:srgbClr val="00F0FF"/>
                  </a:solidFill>
                  <a:latin typeface="Calibri"/>
                  <a:ea typeface="Calibri"/>
                  <a:cs typeface="Calibri"/>
                  <a:sym typeface="Calibri"/>
                </a:rPr>
                <a:t>INDE (14%)</a:t>
              </a:r>
              <a:r>
                <a:rPr b="0" lang="en-US" sz="15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 são as mais cruciais para essa predição.</a:t>
              </a:r>
              <a:endParaRPr b="0" sz="15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92945" y="2234699"/>
            <a:ext cx="4740300" cy="301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20"/>
          <p:cNvGrpSpPr/>
          <p:nvPr/>
        </p:nvGrpSpPr>
        <p:grpSpPr>
          <a:xfrm>
            <a:off x="5524500" y="2095500"/>
            <a:ext cx="6224892" cy="3215372"/>
            <a:chOff x="0" y="0"/>
            <a:chExt cx="6286500" cy="4667400"/>
          </a:xfrm>
        </p:grpSpPr>
        <p:sp>
          <p:nvSpPr>
            <p:cNvPr id="167" name="Google Shape;167;p20"/>
            <p:cNvSpPr/>
            <p:nvPr/>
          </p:nvSpPr>
          <p:spPr>
            <a:xfrm>
              <a:off x="0" y="0"/>
              <a:ext cx="6286500" cy="4667400"/>
            </a:xfrm>
            <a:prstGeom prst="roundRect">
              <a:avLst>
                <a:gd fmla="val 3265" name="adj"/>
              </a:avLst>
            </a:prstGeom>
            <a:solidFill>
              <a:srgbClr val="15203B"/>
            </a:solidFill>
            <a:ln cap="flat" cmpd="sng" w="14300">
              <a:solidFill>
                <a:srgbClr val="00F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0"/>
            <p:cNvSpPr/>
            <p:nvPr/>
          </p:nvSpPr>
          <p:spPr>
            <a:xfrm>
              <a:off x="0" y="0"/>
              <a:ext cx="6286500" cy="400200"/>
            </a:xfrm>
            <a:custGeom>
              <a:rect b="b" l="l" r="r" t="t"/>
              <a:pathLst>
                <a:path extrusionOk="0" h="120000" w="120000">
                  <a:moveTo>
                    <a:pt x="0" y="45714"/>
                  </a:moveTo>
                  <a:cubicBezTo>
                    <a:pt x="0" y="20467"/>
                    <a:pt x="1302" y="0"/>
                    <a:pt x="2909" y="0"/>
                  </a:cubicBezTo>
                  <a:lnTo>
                    <a:pt x="117091" y="0"/>
                  </a:lnTo>
                  <a:cubicBezTo>
                    <a:pt x="118698" y="1"/>
                    <a:pt x="120000" y="20468"/>
                    <a:pt x="120000" y="45714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B112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0"/>
            <p:cNvSpPr/>
            <p:nvPr/>
          </p:nvSpPr>
          <p:spPr>
            <a:xfrm>
              <a:off x="142875" y="152400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0"/>
            <p:cNvSpPr/>
            <p:nvPr/>
          </p:nvSpPr>
          <p:spPr>
            <a:xfrm>
              <a:off x="295275" y="152400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0"/>
            <p:cNvSpPr/>
            <p:nvPr/>
          </p:nvSpPr>
          <p:spPr>
            <a:xfrm>
              <a:off x="447675" y="152400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0"/>
            <p:cNvSpPr txBox="1"/>
            <p:nvPr/>
          </p:nvSpPr>
          <p:spPr>
            <a:xfrm>
              <a:off x="666750" y="95250"/>
              <a:ext cx="4953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4A3B8"/>
                  </a:solidFill>
                  <a:latin typeface="Calibri"/>
                  <a:ea typeface="Calibri"/>
                  <a:cs typeface="Calibri"/>
                  <a:sym typeface="Calibri"/>
                </a:rPr>
                <a:t>datathon-risco-defasagem.streamlit.app</a:t>
              </a:r>
              <a:endParaRPr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3" name="Google Shape;173;p20"/>
            <p:cNvGrpSpPr/>
            <p:nvPr/>
          </p:nvGrpSpPr>
          <p:grpSpPr>
            <a:xfrm>
              <a:off x="190500" y="2190750"/>
              <a:ext cx="5905500" cy="476400"/>
              <a:chOff x="0" y="0"/>
              <a:chExt cx="5905500" cy="476400"/>
            </a:xfrm>
          </p:grpSpPr>
          <p:sp>
            <p:nvSpPr>
              <p:cNvPr id="174" name="Google Shape;174;p20"/>
              <p:cNvSpPr/>
              <p:nvPr/>
            </p:nvSpPr>
            <p:spPr>
              <a:xfrm>
                <a:off x="0" y="0"/>
                <a:ext cx="1771800" cy="476400"/>
              </a:xfrm>
              <a:prstGeom prst="roundRect">
                <a:avLst>
                  <a:gd fmla="val 16000" name="adj"/>
                </a:avLst>
              </a:prstGeom>
              <a:solidFill>
                <a:srgbClr val="0B1121"/>
              </a:solidFill>
              <a:ln cap="flat" cmpd="sng" w="9525">
                <a:solidFill>
                  <a:srgbClr val="38BD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20"/>
              <p:cNvSpPr txBox="1"/>
              <p:nvPr/>
            </p:nvSpPr>
            <p:spPr>
              <a:xfrm>
                <a:off x="95250" y="95250"/>
                <a:ext cx="1581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00F0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Previsão Individual</a:t>
                </a:r>
                <a:endParaRPr b="1" sz="1100">
                  <a:solidFill>
                    <a:srgbClr val="00F0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20"/>
              <p:cNvSpPr/>
              <p:nvPr/>
            </p:nvSpPr>
            <p:spPr>
              <a:xfrm>
                <a:off x="2057400" y="0"/>
                <a:ext cx="1771800" cy="476400"/>
              </a:xfrm>
              <a:prstGeom prst="roundRect">
                <a:avLst>
                  <a:gd fmla="val 16000" name="adj"/>
                </a:avLst>
              </a:prstGeom>
              <a:solidFill>
                <a:srgbClr val="0B1121"/>
              </a:solidFill>
              <a:ln cap="flat" cmpd="sng" w="9525">
                <a:solidFill>
                  <a:srgbClr val="38BD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20"/>
              <p:cNvSpPr txBox="1"/>
              <p:nvPr/>
            </p:nvSpPr>
            <p:spPr>
              <a:xfrm>
                <a:off x="2152650" y="95250"/>
                <a:ext cx="1581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00F0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Previsão em Lote</a:t>
                </a:r>
                <a:endParaRPr b="1" sz="1100">
                  <a:solidFill>
                    <a:srgbClr val="00F0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20"/>
              <p:cNvSpPr/>
              <p:nvPr/>
            </p:nvSpPr>
            <p:spPr>
              <a:xfrm>
                <a:off x="4114800" y="0"/>
                <a:ext cx="1790700" cy="476400"/>
              </a:xfrm>
              <a:prstGeom prst="roundRect">
                <a:avLst>
                  <a:gd fmla="val 16000" name="adj"/>
                </a:avLst>
              </a:prstGeom>
              <a:solidFill>
                <a:srgbClr val="0B1121"/>
              </a:solidFill>
              <a:ln cap="flat" cmpd="sng" w="9525">
                <a:solidFill>
                  <a:srgbClr val="38BD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20"/>
              <p:cNvSpPr txBox="1"/>
              <p:nvPr/>
            </p:nvSpPr>
            <p:spPr>
              <a:xfrm>
                <a:off x="4210050" y="95250"/>
                <a:ext cx="16002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00F0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Sobre o Modelo</a:t>
                </a:r>
                <a:endParaRPr b="1" sz="1100">
                  <a:solidFill>
                    <a:srgbClr val="00F0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80" r="80" t="0"/>
          <a:stretch/>
        </p:blipFill>
        <p:spPr>
          <a:xfrm>
            <a:off x="5524450" y="2405675"/>
            <a:ext cx="6225000" cy="29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457200" y="304800"/>
            <a:ext cx="11239500" cy="83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Q9: Previsão de Risco com IA</a:t>
            </a:r>
            <a:endParaRPr i="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rPr>
              <a:t>Machine Learning Aplicado à Educação • Deploy em Produção</a:t>
            </a:r>
            <a:endParaRPr i="0"/>
          </a:p>
        </p:txBody>
      </p:sp>
      <p:grpSp>
        <p:nvGrpSpPr>
          <p:cNvPr id="182" name="Google Shape;182;p20"/>
          <p:cNvGrpSpPr/>
          <p:nvPr/>
        </p:nvGrpSpPr>
        <p:grpSpPr>
          <a:xfrm>
            <a:off x="457200" y="1485900"/>
            <a:ext cx="4762500" cy="4667400"/>
            <a:chOff x="0" y="0"/>
            <a:chExt cx="4762500" cy="4667400"/>
          </a:xfrm>
        </p:grpSpPr>
        <p:sp>
          <p:nvSpPr>
            <p:cNvPr id="183" name="Google Shape;183;p20"/>
            <p:cNvSpPr/>
            <p:nvPr/>
          </p:nvSpPr>
          <p:spPr>
            <a:xfrm>
              <a:off x="0" y="0"/>
              <a:ext cx="4762500" cy="4667400"/>
            </a:xfrm>
            <a:prstGeom prst="roundRect">
              <a:avLst>
                <a:gd fmla="val 3265" name="adj"/>
              </a:avLst>
            </a:prstGeom>
            <a:solidFill>
              <a:srgbClr val="15203B"/>
            </a:solidFill>
            <a:ln cap="flat" cmpd="sng" w="14300">
              <a:solidFill>
                <a:srgbClr val="00F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0"/>
            <p:cNvSpPr txBox="1"/>
            <p:nvPr/>
          </p:nvSpPr>
          <p:spPr>
            <a:xfrm>
              <a:off x="228600" y="228600"/>
              <a:ext cx="4305300" cy="421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BBF24"/>
                  </a:solidFill>
                  <a:latin typeface="Calibri"/>
                  <a:ea typeface="Calibri"/>
                  <a:cs typeface="Calibri"/>
                  <a:sym typeface="Calibri"/>
                </a:rPr>
                <a:t>Deploy em Produção (Streamlit)</a:t>
              </a:r>
              <a:endParaRPr b="1" sz="2200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F0FF"/>
                  </a:solidFill>
                  <a:latin typeface="Calibri"/>
                  <a:ea typeface="Calibri"/>
                  <a:cs typeface="Calibri"/>
                  <a:sym typeface="Calibri"/>
                </a:rPr>
                <a:t>A Inteligência Preditiva no Dia a Dia da ONG</a:t>
              </a:r>
              <a:endParaRPr b="1" sz="1300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🚀 Prático e Operacional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A inteligência não ficou apenas no papel. A ONG agora conta com um web app intuitivo para tomada de decisão rápida e assertiva.</a:t>
              </a:r>
              <a:endParaRPr b="0" sz="13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⚡ Análise em Tempo Real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Ao inserir os indicadores dos alunos, o modelo calcula e retorna em segundos a probabilidade individual de risco.</a:t>
              </a:r>
              <a:endParaRPr b="0" sz="13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📊 Processamento em Lote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rPr>
                <a:t>Permite o carregamento e a avaliação automatizada de bases inteiras de estudantes simultaneamente.</a:t>
              </a:r>
              <a:endParaRPr b="0" sz="13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/>
        </p:nvSpPr>
        <p:spPr>
          <a:xfrm>
            <a:off x="457200" y="182587"/>
            <a:ext cx="10972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Q11: Insights, Criatividade e Acessibilidade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F0FF"/>
                </a:solidFill>
                <a:latin typeface="Calibri"/>
                <a:ea typeface="Calibri"/>
                <a:cs typeface="Calibri"/>
                <a:sym typeface="Calibri"/>
              </a:rPr>
              <a:t>O Futuro Baseado em Dados</a:t>
            </a:r>
            <a:endParaRPr/>
          </a:p>
        </p:txBody>
      </p:sp>
      <p:sp>
        <p:nvSpPr>
          <p:cNvPr id="190" name="Google Shape;190;p21"/>
          <p:cNvSpPr/>
          <p:nvPr/>
        </p:nvSpPr>
        <p:spPr>
          <a:xfrm>
            <a:off x="457200" y="1645920"/>
            <a:ext cx="11247120" cy="4572000"/>
          </a:xfrm>
          <a:prstGeom prst="roundRect">
            <a:avLst>
              <a:gd fmla="val 16667" name="adj"/>
            </a:avLst>
          </a:prstGeom>
          <a:solidFill>
            <a:srgbClr val="15203B"/>
          </a:solidFill>
          <a:ln cap="flat" cmpd="sng" w="12700">
            <a:solidFill>
              <a:srgbClr val="00F0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731520" y="1828800"/>
            <a:ext cx="10698600" cy="37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1. Triagem Diária e Ação Precoce: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Recomendamos integrar a dashboard do modelo preditivo à rotina dos pedagogos. Ao menor sinal de queda no IPS, uma intervenção de apoio é agendada antes do aluno evadir.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2. Mentoria Cruzada (Apadrinhamento):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Utilizar alunos brilhantes da fase Topázio para mentorear alunos da fase Quartzo marcados pelo modelo preditivo com 'Alto Risco'.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🔗 LINKS DA SOLUÇÃO COMPLETA: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App Online:</a:t>
            </a:r>
            <a:r>
              <a:rPr lang="en-US" sz="18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https://datathon-risco-defasagem.streamlit.app/</a:t>
            </a:r>
            <a:br>
              <a:rPr b="0"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</a:br>
            <a:r>
              <a:rPr b="1" lang="en-US" sz="18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Repositório:</a:t>
            </a:r>
            <a:r>
              <a:rPr b="0" lang="en-US" sz="18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github.com/DanylloENL/datathon-passos-magicos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/>
        </p:nvSpPr>
        <p:spPr>
          <a:xfrm>
            <a:off x="828900" y="2644050"/>
            <a:ext cx="10058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OBRIGADX!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